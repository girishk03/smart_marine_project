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3"/>
    <p:sldId id="278" r:id="rId5"/>
    <p:sldId id="272" r:id="rId6"/>
    <p:sldId id="267" r:id="rId7"/>
    <p:sldId id="271" r:id="rId8"/>
    <p:sldId id="275" r:id="rId9"/>
    <p:sldId id="274" r:id="rId10"/>
    <p:sldId id="280" r:id="rId11"/>
    <p:sldId id="273" r:id="rId12"/>
    <p:sldId id="276" r:id="rId13"/>
  </p:sldIdLst>
  <p:sldSz cx="9144000" cy="5143500" type="screen16x9"/>
  <p:notesSz cx="6858000" cy="9144000"/>
  <p:embeddedFontLst>
    <p:embeddedFont>
      <p:font typeface="Bookman Old Style" panose="02050604050505020204" pitchFamily="18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152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341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9" d="100"/>
          <a:sy n="119" d="100"/>
        </p:scale>
        <p:origin x="418" y="91"/>
      </p:cViewPr>
      <p:guideLst>
        <p:guide orient="horz" pos="1152"/>
        <p:guide pos="2880"/>
        <p:guide orient="horz" pos="3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>
            <a:spLocks noGrp="1"/>
          </p:cNvSpPr>
          <p:nvPr>
            <p:ph type="body" idx="1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118745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SzPts val="15100"/>
              <a:buChar char="•"/>
              <a:defRPr/>
            </a:lvl1pPr>
            <a:lvl2pPr marL="914400" lvl="1" indent="-10668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SzPts val="13200"/>
              <a:buChar char="–"/>
              <a:defRPr/>
            </a:lvl2pPr>
            <a:lvl3pPr marL="1371600" lvl="2" indent="-94615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SzPts val="11300"/>
              <a:buChar char="•"/>
              <a:defRPr/>
            </a:lvl3pPr>
            <a:lvl4pPr marL="1828800" lvl="3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–"/>
              <a:defRPr/>
            </a:lvl4pPr>
            <a:lvl5pPr marL="2286000" lvl="4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»"/>
              <a:defRPr/>
            </a:lvl5pPr>
            <a:lvl6pPr marL="2743200" lvl="5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6pPr>
            <a:lvl7pPr marL="3200400" lvl="6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7pPr>
            <a:lvl8pPr marL="3657600" lvl="7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8pPr>
            <a:lvl9pPr marL="4114800" lvl="8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9pPr>
          </a:lstStyle>
          <a:p/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457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10668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2900"/>
            </a:lvl1pPr>
            <a:lvl2pPr marL="914400" lvl="1" indent="-94615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2500"/>
            </a:lvl2pPr>
            <a:lvl3pPr marL="1371600" lvl="2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3pPr>
            <a:lvl4pPr marL="1828800" lvl="3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1900"/>
            </a:lvl4pPr>
            <a:lvl5pPr marL="2286000" lvl="4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1900"/>
            </a:lvl5pPr>
            <a:lvl6pPr marL="2743200" lvl="5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6pPr>
            <a:lvl7pPr marL="3200400" lvl="6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7pPr>
            <a:lvl8pPr marL="3657600" lvl="7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8pPr>
            <a:lvl9pPr marL="4114800" lvl="8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9pPr>
          </a:lstStyle>
          <a:p/>
        </p:txBody>
      </p:sp>
      <p:sp>
        <p:nvSpPr>
          <p:cNvPr id="20" name="Google Shape;20;p21"/>
          <p:cNvSpPr txBox="1">
            <a:spLocks noGrp="1"/>
          </p:cNvSpPr>
          <p:nvPr>
            <p:ph type="body" idx="2"/>
          </p:nvPr>
        </p:nvSpPr>
        <p:spPr>
          <a:xfrm>
            <a:off x="4648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10668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2900"/>
            </a:lvl1pPr>
            <a:lvl2pPr marL="914400" lvl="1" indent="-94615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2500"/>
            </a:lvl2pPr>
            <a:lvl3pPr marL="1371600" lvl="2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3pPr>
            <a:lvl4pPr marL="1828800" lvl="3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1900"/>
            </a:lvl4pPr>
            <a:lvl5pPr marL="2286000" lvl="4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1900"/>
            </a:lvl5pPr>
            <a:lvl6pPr marL="2743200" lvl="5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6pPr>
            <a:lvl7pPr marL="3200400" lvl="6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7pPr>
            <a:lvl8pPr marL="3657600" lvl="7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8pPr>
            <a:lvl9pPr marL="4114800" lvl="8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9pPr>
          </a:lstStyle>
          <a:p/>
        </p:txBody>
      </p:sp>
      <p:sp>
        <p:nvSpPr>
          <p:cNvPr id="21" name="Google Shape;21;p2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2" name="Google Shape;22;p2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sz="2500" b="1"/>
            </a:lvl1pPr>
            <a:lvl2pPr marL="914400" lvl="1" indent="-2286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sz="2100" b="1"/>
            </a:lvl2pPr>
            <a:lvl3pPr marL="1371600" lvl="2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sz="1900" b="1"/>
            </a:lvl3pPr>
            <a:lvl4pPr marL="1828800" lvl="3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9pPr>
          </a:lstStyle>
          <a:p/>
        </p:txBody>
      </p:sp>
      <p:sp>
        <p:nvSpPr>
          <p:cNvPr id="27" name="Google Shape;27;p22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94615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1pPr>
            <a:lvl2pPr marL="914400" lvl="1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2pPr>
            <a:lvl3pPr marL="1371600" lvl="2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3pPr>
            <a:lvl4pPr marL="1828800" lvl="3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–"/>
              <a:defRPr sz="1600"/>
            </a:lvl4pPr>
            <a:lvl5pPr marL="2286000" lvl="4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»"/>
              <a:defRPr sz="1600"/>
            </a:lvl5pPr>
            <a:lvl6pPr marL="2743200" lvl="5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6pPr>
            <a:lvl7pPr marL="3200400" lvl="6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7pPr>
            <a:lvl8pPr marL="3657600" lvl="7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8pPr>
            <a:lvl9pPr marL="4114800" lvl="8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9pPr>
          </a:lstStyle>
          <a:p/>
        </p:txBody>
      </p:sp>
      <p:sp>
        <p:nvSpPr>
          <p:cNvPr id="28" name="Google Shape;28;p22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9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sz="2500" b="1"/>
            </a:lvl1pPr>
            <a:lvl2pPr marL="914400" lvl="1" indent="-2286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sz="2100" b="1"/>
            </a:lvl2pPr>
            <a:lvl3pPr marL="1371600" lvl="2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sz="1900" b="1"/>
            </a:lvl3pPr>
            <a:lvl4pPr marL="1828800" lvl="3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1600" b="1"/>
            </a:lvl9pPr>
          </a:lstStyle>
          <a:p/>
        </p:txBody>
      </p:sp>
      <p:sp>
        <p:nvSpPr>
          <p:cNvPr id="29" name="Google Shape;29;p22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94615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1pPr>
            <a:lvl2pPr marL="914400" lvl="1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2pPr>
            <a:lvl3pPr marL="1371600" lvl="2" indent="-7683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3pPr>
            <a:lvl4pPr marL="1828800" lvl="3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–"/>
              <a:defRPr sz="1600"/>
            </a:lvl4pPr>
            <a:lvl5pPr marL="2286000" lvl="4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»"/>
              <a:defRPr sz="1600"/>
            </a:lvl5pPr>
            <a:lvl6pPr marL="2743200" lvl="5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6pPr>
            <a:lvl7pPr marL="3200400" lvl="6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7pPr>
            <a:lvl8pPr marL="3657600" lvl="7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8pPr>
            <a:lvl9pPr marL="4114800" lvl="8" indent="-70485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9pPr>
          </a:lstStyle>
          <a:p/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457202" y="204788"/>
            <a:ext cx="3008400" cy="8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sz="21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3575051" y="204789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118745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15100"/>
              <a:buChar char="•"/>
              <a:defRPr sz="3300"/>
            </a:lvl1pPr>
            <a:lvl2pPr marL="914400" lvl="1" indent="-10668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3200"/>
              <a:buChar char="–"/>
              <a:defRPr sz="2900"/>
            </a:lvl2pPr>
            <a:lvl3pPr marL="1371600" lvl="2" indent="-94615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3pPr>
            <a:lvl4pPr marL="1828800" lvl="3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4pPr>
            <a:lvl5pPr marL="2286000" lvl="4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»"/>
              <a:defRPr sz="2100"/>
            </a:lvl5pPr>
            <a:lvl6pPr marL="2743200" lvl="5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6pPr>
            <a:lvl7pPr marL="3200400" lvl="6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7pPr>
            <a:lvl8pPr marL="3657600" lvl="7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8pPr>
            <a:lvl9pPr marL="4114800" lvl="8" indent="-82550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9pPr>
          </a:lstStyle>
          <a:p/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457202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9pPr>
          </a:lstStyle>
          <a:p/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1792289" y="3600452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sz="21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>
            <a:spLocks noGrp="1"/>
          </p:cNvSpPr>
          <p:nvPr>
            <p:ph type="pic" idx="2"/>
          </p:nvPr>
        </p:nvSpPr>
        <p:spPr>
          <a:xfrm>
            <a:off x="1792289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1792289" y="4025505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9pPr>
          </a:lstStyle>
          <a:p/>
        </p:txBody>
      </p:sp>
      <p:sp>
        <p:nvSpPr>
          <p:cNvPr id="44" name="Google Shape;44;p24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5" name="Google Shape;45;p24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46" name="Google Shape;46;p2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>
            <a:spLocks noGrp="1"/>
          </p:cNvSpPr>
          <p:nvPr>
            <p:ph type="body" idx="1"/>
          </p:nvPr>
        </p:nvSpPr>
        <p:spPr>
          <a:xfrm rot="5400000">
            <a:off x="2874751" y="-1217399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1" name="Google Shape;51;p2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2" name="Google Shape;52;p2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>
            <a:spLocks noGrp="1"/>
          </p:cNvSpPr>
          <p:nvPr>
            <p:ph type="title"/>
          </p:nvPr>
        </p:nvSpPr>
        <p:spPr>
          <a:xfrm rot="5400000">
            <a:off x="5463751" y="1371630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>
            <a:spLocks noGrp="1"/>
          </p:cNvSpPr>
          <p:nvPr>
            <p:ph type="body" idx="1"/>
          </p:nvPr>
        </p:nvSpPr>
        <p:spPr>
          <a:xfrm rot="5400000">
            <a:off x="1272750" y="-609570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7" name="Google Shape;57;p2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8" name="Google Shape;58;p2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00"/>
              <a:buFont typeface="Calibri"/>
              <a:buNone/>
              <a:defRPr sz="20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t" anchorCtr="0">
            <a:noAutofit/>
          </a:bodyPr>
          <a:lstStyle>
            <a:lvl1pPr marL="457200" marR="0" lvl="0" indent="-1187450" algn="l" rtl="0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Font typeface="Arial" panose="020B0704020202020204"/>
              <a:buChar char="•"/>
              <a:defRPr sz="15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10668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 panose="020B0704020202020204"/>
              <a:buChar char="–"/>
              <a:defRPr sz="1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946150" algn="l" rtl="0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 panose="020B0704020202020204"/>
              <a:buChar char="•"/>
              <a:defRPr sz="1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 panose="020B0704020202020204"/>
              <a:buChar char="–"/>
              <a:defRPr sz="9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 panose="020B0704020202020204"/>
              <a:buChar char="»"/>
              <a:defRPr sz="9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 panose="020B0704020202020204"/>
              <a:buChar char="•"/>
              <a:defRPr sz="9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 panose="020B0704020202020204"/>
              <a:buChar char="•"/>
              <a:defRPr sz="9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 panose="020B0704020202020204"/>
              <a:buChar char="•"/>
              <a:defRPr sz="9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 panose="020B0704020202020204"/>
              <a:buChar char="•"/>
              <a:defRPr sz="9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20" name="Google Shape;120;p1"/>
          <p:cNvSpPr/>
          <p:nvPr/>
        </p:nvSpPr>
        <p:spPr>
          <a:xfrm>
            <a:off x="3415004" y="3219941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rgbClr val="000000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86" y="880980"/>
            <a:ext cx="8229600" cy="857400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University Timetabling Problem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Constraint Programming and Heuristics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7767" y="3265616"/>
            <a:ext cx="34056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Team Details </a:t>
            </a:r>
            <a:endParaRPr lang="en-US" dirty="0">
              <a:latin typeface="Bookman Old Style" panose="0205060405050502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Chakradhar Goud (22EG105K07)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Nivas Reddy (22EG105K17)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 Sai Girish (23EG505K03)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Pavan Pradhan (23EG505K04)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70632" y="3239550"/>
            <a:ext cx="23983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Project Guide </a:t>
            </a:r>
            <a:endParaRPr lang="en-US" dirty="0">
              <a:latin typeface="Bookman Old Style" panose="020506040505050202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 Dasu Vaman Ravi Prasad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UML Diagrams</a:t>
            </a: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0575" y="1192530"/>
            <a:ext cx="7896225" cy="2257425"/>
          </a:xfrm>
        </p:spPr>
        <p:txBody>
          <a:bodyPr/>
          <a:p>
            <a:pPr marL="0" indent="0">
              <a:lnSpc>
                <a:spcPct val="0"/>
              </a:lnSpc>
              <a:buNone/>
            </a:pPr>
            <a:r>
              <a:rPr lang="en-IN" sz="1800" dirty="0">
                <a:latin typeface="Times New Roman" panose="02020603050405020304"/>
                <a:cs typeface="Times New Roman" panose="02020603050405020304"/>
                <a:sym typeface="+mn-ea"/>
              </a:rPr>
              <a:t>1. USE CASE DIAGRAM</a:t>
            </a:r>
            <a:endParaRPr lang="en-US" sz="180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0"/>
              </a:lnSpc>
              <a:buNone/>
            </a:pPr>
            <a:r>
              <a:rPr lang="en-IN" sz="1800" dirty="0">
                <a:latin typeface="Times New Roman" panose="02020603050405020304"/>
                <a:cs typeface="Times New Roman" panose="02020603050405020304"/>
                <a:sym typeface="+mn-ea"/>
              </a:rPr>
              <a:t>2. CLASS DIAGRAM</a:t>
            </a:r>
            <a:endParaRPr lang="en-IN" sz="1800" dirty="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0"/>
              </a:lnSpc>
              <a:buNone/>
            </a:pPr>
            <a:r>
              <a:rPr lang="en-IN" sz="1800" dirty="0">
                <a:latin typeface="Times New Roman" panose="02020603050405020304"/>
                <a:cs typeface="Times New Roman" panose="02020603050405020304"/>
                <a:sym typeface="+mn-ea"/>
              </a:rPr>
              <a:t>3. OBJECT DIAGRAM</a:t>
            </a:r>
            <a:endParaRPr lang="en-IN" sz="1800" dirty="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0"/>
              </a:lnSpc>
              <a:buNone/>
            </a:pPr>
            <a:r>
              <a:rPr lang="en-IN" sz="1800" dirty="0">
                <a:latin typeface="Times New Roman" panose="02020603050405020304"/>
                <a:cs typeface="Times New Roman" panose="02020603050405020304"/>
                <a:sym typeface="+mn-ea"/>
              </a:rPr>
              <a:t>4. SEQUENCE DIAGRAM</a:t>
            </a:r>
            <a:endParaRPr lang="en-IN" sz="1800" dirty="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0"/>
              </a:lnSpc>
              <a:buNone/>
            </a:pPr>
            <a:r>
              <a:rPr lang="en-IN" sz="1800" dirty="0">
                <a:latin typeface="Times New Roman" panose="02020603050405020304"/>
                <a:cs typeface="Times New Roman" panose="02020603050405020304"/>
                <a:sym typeface="+mn-ea"/>
              </a:rPr>
              <a:t>5. </a:t>
            </a:r>
            <a:r>
              <a:rPr lang="en-IN" sz="1800" dirty="0">
                <a:latin typeface="Times New Roman" panose="02020603050405020304"/>
                <a:cs typeface="Times New Roman" panose="02020603050405020304"/>
                <a:sym typeface="+mn-ea"/>
              </a:rPr>
              <a:t>ACTIVITY DIAGRAM</a:t>
            </a:r>
            <a:endParaRPr lang="en-IN" sz="1800" dirty="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marL="0" indent="0">
              <a:lnSpc>
                <a:spcPct val="0"/>
              </a:lnSpc>
              <a:buNone/>
            </a:pPr>
            <a:r>
              <a:rPr lang="en-US" altLang="en-IN" sz="1800" dirty="0">
                <a:latin typeface="Times New Roman" panose="02020603050405020304"/>
                <a:cs typeface="Times New Roman" panose="02020603050405020304"/>
                <a:sym typeface="+mn-ea"/>
              </a:rPr>
              <a:t>6.STATECHART DIAGRAM</a:t>
            </a:r>
            <a:endParaRPr lang="en-IN" sz="1800" dirty="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0"/>
              </a:lnSpc>
              <a:buNone/>
            </a:pPr>
            <a:r>
              <a:rPr lang="en-US" altLang="en-IN" sz="1800" dirty="0">
                <a:latin typeface="Times New Roman" panose="02020603050405020304"/>
                <a:cs typeface="Times New Roman" panose="02020603050405020304"/>
                <a:sym typeface="+mn-ea"/>
              </a:rPr>
              <a:t>7</a:t>
            </a:r>
            <a:r>
              <a:rPr lang="en-IN" sz="1800" dirty="0">
                <a:latin typeface="Times New Roman" panose="02020603050405020304"/>
                <a:cs typeface="Times New Roman" panose="02020603050405020304"/>
                <a:sym typeface="+mn-ea"/>
              </a:rPr>
              <a:t>. COMPONENT DIAGRAM</a:t>
            </a:r>
            <a:endParaRPr lang="en-IN" sz="1800" dirty="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0"/>
              </a:lnSpc>
              <a:buNone/>
            </a:pPr>
            <a:r>
              <a:rPr lang="en-US" altLang="en-IN" sz="1800" dirty="0">
                <a:latin typeface="Times New Roman" panose="02020603050405020304"/>
                <a:cs typeface="Times New Roman" panose="02020603050405020304"/>
                <a:sym typeface="+mn-ea"/>
              </a:rPr>
              <a:t>8</a:t>
            </a:r>
            <a:r>
              <a:rPr lang="en-IN" sz="1800" dirty="0">
                <a:latin typeface="Times New Roman" panose="02020603050405020304"/>
                <a:cs typeface="Times New Roman" panose="02020603050405020304"/>
                <a:sym typeface="+mn-ea"/>
              </a:rPr>
              <a:t>. DEPLOYMENT DIAGRAM</a:t>
            </a:r>
            <a:endParaRPr lang="en-IN" sz="1800" dirty="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0"/>
              </a:lnSpc>
              <a:buNone/>
            </a:pPr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22433"/>
            <a:ext cx="8229600" cy="857400"/>
          </a:xfrm>
        </p:spPr>
        <p:txBody>
          <a:bodyPr/>
          <a:lstStyle/>
          <a:p>
            <a:r>
              <a:rPr lang="en-US" sz="2800" dirty="0" err="1">
                <a:latin typeface="Bookman Old Style" panose="02050604050505020204" pitchFamily="18" charset="0"/>
              </a:rPr>
              <a:t>Usecase</a:t>
            </a:r>
            <a:r>
              <a:rPr lang="en-US" sz="2800" dirty="0">
                <a:latin typeface="Bookman Old Style" panose="02050604050505020204" pitchFamily="18" charset="0"/>
              </a:rPr>
              <a:t> Diagram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 altLang="en-IN"/>
              <a:t> </a:t>
            </a:r>
            <a:endParaRPr lang="en-US" alt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>
          <a:xfrm>
            <a:off x="0" y="4767580"/>
            <a:ext cx="9144000" cy="273685"/>
          </a:xfrm>
        </p:spPr>
        <p:txBody>
          <a:bodyPr/>
          <a:lstStyle/>
          <a:p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745355" y="2729865"/>
            <a:ext cx="30480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8" name="Picture 7"/>
          <p:cNvPicPr/>
          <p:nvPr/>
        </p:nvPicPr>
        <p:blipFill>
          <a:blip r:embed="rId1"/>
          <a:stretch>
            <a:fillRect/>
          </a:stretch>
        </p:blipFill>
        <p:spPr>
          <a:xfrm>
            <a:off x="1449705" y="490855"/>
            <a:ext cx="6105525" cy="4276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00" tIns="47025" rIns="94100" bIns="470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Bookman Old Style" panose="02050604050505020204" pitchFamily="18" charset="0"/>
              </a:rPr>
            </a:fld>
            <a:endParaRPr>
              <a:latin typeface="Bookman Old Style" panose="02050604050505020204" pitchFamily="18" charset="0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3415004" y="3219941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rgbClr val="000000"/>
              </a:solidFill>
              <a:latin typeface="Bookman Old Style" panose="02050604050505020204" pitchFamily="18" charset="0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3030"/>
            <a:ext cx="9144000" cy="627380"/>
          </a:xfrm>
        </p:spPr>
        <p:txBody>
          <a:bodyPr/>
          <a:lstStyle/>
          <a:p>
            <a:r>
              <a:rPr lang="en-US" sz="3600" dirty="0">
                <a:latin typeface="Bookman Old Style" panose="02050604050505020204" pitchFamily="18" charset="0"/>
              </a:rPr>
              <a:t>Class Diagram</a:t>
            </a:r>
            <a:endParaRPr lang="en-US" sz="3600" dirty="0">
              <a:latin typeface="Bookman Old Style" panose="02050604050505020204" pitchFamily="18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idx="11"/>
          </p:nvPr>
        </p:nvSpPr>
        <p:spPr>
          <a:xfrm>
            <a:off x="0" y="4767580"/>
            <a:ext cx="9144000" cy="273685"/>
          </a:xfrm>
        </p:spPr>
        <p:txBody>
          <a:bodyPr/>
          <a:lstStyle/>
          <a:p>
            <a:r>
              <a:rPr lang="en-US"/>
              <a:t>Department of Computer Science and Engineering</a:t>
            </a:r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974090" y="740410"/>
            <a:ext cx="6783705" cy="40760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885"/>
            <a:ext cx="8229600" cy="523875"/>
          </a:xfrm>
        </p:spPr>
        <p:txBody>
          <a:bodyPr/>
          <a:lstStyle/>
          <a:p>
            <a:r>
              <a:rPr lang="en-US" sz="2800" dirty="0">
                <a:latin typeface="Bookman Old Style" panose="02050604050505020204" pitchFamily="18" charset="0"/>
              </a:rPr>
              <a:t>Object Diagram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 altLang="en-IN"/>
              <a:t> </a:t>
            </a:r>
            <a:endParaRPr lang="en-US" alt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>
          <a:xfrm>
            <a:off x="220980" y="4767580"/>
            <a:ext cx="9140825" cy="273685"/>
          </a:xfrm>
        </p:spPr>
        <p:txBody>
          <a:bodyPr/>
          <a:lstStyle/>
          <a:p>
            <a:pPr algn="ctr"/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155" y="565785"/>
            <a:ext cx="6163945" cy="42017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395" y="565785"/>
            <a:ext cx="1652270" cy="2736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932" y="-91543"/>
            <a:ext cx="6465194" cy="703289"/>
          </a:xfrm>
        </p:spPr>
        <p:txBody>
          <a:bodyPr/>
          <a:lstStyle/>
          <a:p>
            <a:r>
              <a:rPr lang="en-US" sz="2800" dirty="0">
                <a:latin typeface="Bookman Old Style" panose="02050604050505020204" pitchFamily="18" charset="0"/>
              </a:rPr>
              <a:t>Sequence Diagram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 altLang="en-IN"/>
              <a:t> </a:t>
            </a:r>
            <a:endParaRPr lang="en-US" alt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>
          <a:xfrm>
            <a:off x="0" y="4869815"/>
            <a:ext cx="9144000" cy="273685"/>
          </a:xfrm>
        </p:spPr>
        <p:txBody>
          <a:bodyPr/>
          <a:lstStyle/>
          <a:p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016635" y="683260"/>
            <a:ext cx="6733540" cy="41179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8468" y="0"/>
            <a:ext cx="5344732" cy="553876"/>
          </a:xfrm>
        </p:spPr>
        <p:txBody>
          <a:bodyPr/>
          <a:lstStyle/>
          <a:p>
            <a:r>
              <a:rPr lang="en-US" sz="2800" dirty="0">
                <a:latin typeface="Bookman Old Style" panose="02050604050505020204" pitchFamily="18" charset="0"/>
              </a:rPr>
              <a:t>Activity</a:t>
            </a:r>
            <a:r>
              <a:rPr lang="en-US" sz="3600" dirty="0">
                <a:latin typeface="Bookman Old Style" panose="02050604050505020204" pitchFamily="18" charset="0"/>
              </a:rPr>
              <a:t> </a:t>
            </a:r>
            <a:r>
              <a:rPr lang="en-US" sz="2800" dirty="0">
                <a:latin typeface="Bookman Old Style" panose="02050604050505020204" pitchFamily="18" charset="0"/>
              </a:rPr>
              <a:t>Diagram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 altLang="en-IN"/>
              <a:t> </a:t>
            </a:r>
            <a:endParaRPr lang="en-US" alt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>
          <a:xfrm>
            <a:off x="0" y="4869815"/>
            <a:ext cx="9144000" cy="273685"/>
          </a:xfrm>
        </p:spPr>
        <p:txBody>
          <a:bodyPr/>
          <a:lstStyle/>
          <a:p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8" name="Picture 7" descr="ac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7220" y="532765"/>
            <a:ext cx="4862830" cy="43364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6990"/>
            <a:ext cx="8229600" cy="732790"/>
          </a:xfrm>
        </p:spPr>
        <p:txBody>
          <a:bodyPr/>
          <a:p>
            <a:r>
              <a:rPr lang="en-US" sz="3600" dirty="0">
                <a:latin typeface="Bookman Old Style" panose="02050604050505020204" pitchFamily="18" charset="0"/>
                <a:sym typeface="+mn-ea"/>
              </a:rPr>
              <a:t>Statechart Diagram</a:t>
            </a:r>
            <a:endParaRPr lang="en-US" sz="36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2380" y="3422015"/>
            <a:ext cx="693420" cy="1172845"/>
          </a:xfrm>
        </p:spPr>
        <p:txBody>
          <a:bodyPr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>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>
          <a:xfrm>
            <a:off x="0" y="4767580"/>
            <a:ext cx="9144000" cy="273685"/>
          </a:xfrm>
        </p:spPr>
        <p:txBody>
          <a:bodyPr/>
          <a:p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1"/>
          <a:stretch>
            <a:fillRect/>
          </a:stretch>
        </p:blipFill>
        <p:spPr>
          <a:xfrm>
            <a:off x="2673350" y="535305"/>
            <a:ext cx="3346450" cy="42329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7504" y="102336"/>
            <a:ext cx="4773168" cy="593986"/>
          </a:xfrm>
        </p:spPr>
        <p:txBody>
          <a:bodyPr/>
          <a:lstStyle/>
          <a:p>
            <a:r>
              <a:rPr lang="en-US" sz="2800" dirty="0">
                <a:latin typeface="Bookman Old Style" panose="02050604050505020204" pitchFamily="18" charset="0"/>
              </a:rPr>
              <a:t>Component Diagram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 altLang="en-IN"/>
              <a:t> </a:t>
            </a:r>
            <a:endParaRPr lang="en-US" alt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>
          <a:xfrm>
            <a:off x="0" y="4767580"/>
            <a:ext cx="9144000" cy="273685"/>
          </a:xfrm>
        </p:spPr>
        <p:txBody>
          <a:bodyPr/>
          <a:lstStyle/>
          <a:p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3" name="Picture 2" descr="co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215" y="874395"/>
            <a:ext cx="8218170" cy="3568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4496" y="112730"/>
            <a:ext cx="3986784" cy="612274"/>
          </a:xfrm>
        </p:spPr>
        <p:txBody>
          <a:bodyPr/>
          <a:lstStyle/>
          <a:p>
            <a:r>
              <a:rPr lang="en-US" sz="2800" dirty="0">
                <a:latin typeface="Bookman Old Style" panose="02050604050505020204" pitchFamily="18" charset="0"/>
              </a:rPr>
              <a:t>Deployment Diagram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592" y="842040"/>
            <a:ext cx="7199376" cy="3276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1038</Words>
  <Application>WPS Presentation</Application>
  <PresentationFormat>On-screen Show (16:9)</PresentationFormat>
  <Paragraphs>102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Helvetica Neue</vt:lpstr>
      <vt:lpstr>Noto Sans Symbols</vt:lpstr>
      <vt:lpstr>Trebuchet MS</vt:lpstr>
      <vt:lpstr>Times New Roman</vt:lpstr>
      <vt:lpstr>Bookman Old Style</vt:lpstr>
      <vt:lpstr>Bookman</vt:lpstr>
      <vt:lpstr>Thonburi</vt:lpstr>
      <vt:lpstr>Book Antiqua</vt:lpstr>
      <vt:lpstr>Microsoft YaHei</vt:lpstr>
      <vt:lpstr>汉仪旗黑</vt:lpstr>
      <vt:lpstr>Arial Unicode MS</vt:lpstr>
      <vt:lpstr>宋体-简</vt:lpstr>
      <vt:lpstr>Times New Roman</vt:lpstr>
      <vt:lpstr>1_Office Theme</vt:lpstr>
      <vt:lpstr>Solving University Timetabling Problem  Using Constraint Programming and Heuristics</vt:lpstr>
      <vt:lpstr>PowerPoint 演示文稿</vt:lpstr>
      <vt:lpstr>Usecase Diagram</vt:lpstr>
      <vt:lpstr>Experiment Results</vt:lpstr>
      <vt:lpstr>Object Diagram</vt:lpstr>
      <vt:lpstr>Sequence Diagram</vt:lpstr>
      <vt:lpstr>Activity Diagram</vt:lpstr>
      <vt:lpstr>PowerPoint 演示文稿</vt:lpstr>
      <vt:lpstr>Component Diagram</vt:lpstr>
      <vt:lpstr>Deployment Diagram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TITILE</dc:title>
  <dc:creator>Raj</dc:creator>
  <cp:lastModifiedBy>20-EC-92 GIRISH</cp:lastModifiedBy>
  <cp:revision>15</cp:revision>
  <dcterms:created xsi:type="dcterms:W3CDTF">2026-02-21T04:12:23Z</dcterms:created>
  <dcterms:modified xsi:type="dcterms:W3CDTF">2026-02-21T04:12:23Z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37CA327A795AF44CA73099691FD70301_43</vt:lpwstr>
  </property>
  <property fmtid="{D5CDD505-2E9C-101B-9397-08002B2CF9AE}" pid="3" name="KSOProductBuildVer">
    <vt:lpwstr>1033-12.1.21937.21937</vt:lpwstr>
  </property>
</Properties>
</file>